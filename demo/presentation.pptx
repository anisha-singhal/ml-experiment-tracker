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DEVOPS FINAL CAPSTONE PROJECT · SESSION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Helvetica Neue"/>
              </a:rPr>
              <a:t>ML Experiment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4A3B8"/>
                </a:solidFill>
                <a:latin typeface="Helvetica Neue"/>
              </a:rPr>
              <a:t>From a laptop to a monitored Kubernetes cluster — application, pipeline,</a:t>
            </a:r>
            <a:br/>
            <a:r>
              <a:rPr sz="1900" b="0">
                <a:solidFill>
                  <a:srgbClr val="94A3B8"/>
                </a:solidFill>
                <a:latin typeface="Helvetica Neue"/>
              </a:rPr>
              <a:t>security gate, infrastructure as code and live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2E8F0"/>
                </a:solidFill>
                <a:latin typeface="Helvetica Neue"/>
              </a:rPr>
              <a:t>Anisha Singhal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Enrollment 10020  ·  github.com/anisha-singhal/ml-experiment-tracker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What the application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2E8F0"/>
                </a:solidFill>
                <a:latin typeface="Helvetica Neue"/>
              </a:rPr>
              <a:t>•  Anyone who has run more than a handful of ML experiments has lost track of which configuration produced the good number.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700" b="0">
                <a:solidFill>
                  <a:srgbClr val="E2E8F0"/>
                </a:solidFill>
                <a:latin typeface="Helvetica Neue"/>
              </a:rPr>
              <a:t>•  Each training run is one record: name, model type, dataset, learning rate, epochs, status and accuracy.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700" b="0">
                <a:solidFill>
                  <a:srgbClr val="E2E8F0"/>
                </a:solidFill>
                <a:latin typeface="Helvetica Neue"/>
              </a:rPr>
              <a:t>•  Runs move through queued → running → completed. Filter by status; see totals, per-status counts, best and average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ONE DESIGN DECISION WORTH CALLING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Accuracy is nullable, not zero.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400">
                <a:solidFill>
                  <a:srgbClr val="94A3B8"/>
                </a:solidFill>
                <a:latin typeface="Helvetica Neue"/>
              </a:rPr>
              <a:t>A queued run has no score yet — which is a different thing from having scored 0.0. That distinction is enforced in the schema, the API and the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ADE80"/>
                </a:solidFill>
                <a:latin typeface="Helvetica Neue"/>
              </a:rPr>
              <a:t>9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REST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507492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ADE80"/>
                </a:solidFill>
                <a:latin typeface="Helvetica Neue"/>
              </a:rPr>
              <a:t>17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passing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07492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ADE80"/>
                </a:solidFill>
                <a:latin typeface="Helvetica Neue"/>
              </a:rPr>
              <a:t>2×2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replicas in K8s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507492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ADE80"/>
                </a:solidFill>
                <a:latin typeface="Helvetica Neue"/>
              </a:rPr>
              <a:t>8</a:t>
            </a:r>
          </a:p>
          <a:p>
            <a:pPr algn="ctr"/>
            <a:r>
              <a:rPr sz="1200">
                <a:solidFill>
                  <a:srgbClr val="94A3B8"/>
                </a:solidFill>
                <a:latin typeface="Helvetica Neue"/>
              </a:rPr>
              <a:t>Grafana panels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06984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75648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75648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React 18 · Vite 5 · plain CSS, responsive to 430px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7984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77984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FastAPI · SQLAlchemy 2 · Pydantic v2 · Alembic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80320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80320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PostgreSQL 16 — StatefulSet + PVC in the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82656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82656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pytest — 17 tests, SQLite-isolated via dependency override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64991"/>
            <a:ext cx="106984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84991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Containers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84991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Docker · multi-stage builds · non-root runtimes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87328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87328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GitHub Actions · GitHub Container Registry, SHA-tagged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69664"/>
            <a:ext cx="106984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89664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89664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Trivy image scanning with a build-failing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92000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592000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Kubernetes · Helm 3 · ingress-nginx · HPA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974336"/>
            <a:ext cx="106984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994336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GitOps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94336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Argo CD — declarative sync from this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396672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96672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Terraform — AWS VPC across 2 AZs + EKS node 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779008"/>
            <a:ext cx="10698480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99008"/>
            <a:ext cx="2377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799008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Prometheus · Grafana · prometheus-fastapi-instrumentator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691640" cy="6400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Helvetica Neue"/>
              </a:rPr>
              <a:t>Developer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git push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1691640" cy="6400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Helvetica Neue"/>
              </a:rPr>
              <a:t>GitHub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source of truth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72768" y="2560320"/>
            <a:ext cx="0" cy="41148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783080"/>
            <a:ext cx="2514600" cy="2240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GitHub Actions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→ pytest — 17 tests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→ frontend build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→ docker build (matrix)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→ trivy scan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→ security gate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→ push to GHCR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→ helm lint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834640"/>
            <a:ext cx="45720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52160" y="178308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GHCR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images tagged :sha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2121408"/>
            <a:ext cx="45720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52160" y="288036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Argo CD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watches the repo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23160" y="3291840"/>
            <a:ext cx="3429000" cy="0"/>
          </a:xfrm>
          <a:prstGeom prst="line">
            <a:avLst/>
          </a:prstGeom>
          <a:ln w="2222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1783080"/>
            <a:ext cx="3017520" cy="2240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Kubernetes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Ingress  /  → frontend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Ingress  /api → backend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frontend × 2  (nginx)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backend × 2  (FastAPI)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PostgreSQL StatefulSet + PVC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HPA on backend CPU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2834640"/>
            <a:ext cx="457201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43484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Terraform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AWS VPC · 2 AZs · EKS node group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40480" y="4023360"/>
            <a:ext cx="4572000" cy="868680"/>
          </a:xfrm>
          <a:prstGeom prst="line">
            <a:avLst/>
          </a:prstGeom>
          <a:ln w="22225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63440" y="443484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Prometheus → Grafana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scrapes /metrics on both pods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772400" y="4023360"/>
            <a:ext cx="640080" cy="640080"/>
          </a:xfrm>
          <a:prstGeom prst="line">
            <a:avLst/>
          </a:prstGeom>
          <a:ln w="2222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CI/CD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627632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1  test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pytest ×17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59152" y="2258568"/>
            <a:ext cx="1828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42032" y="1828800"/>
            <a:ext cx="1627632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2  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frontend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9664" y="2258568"/>
            <a:ext cx="1828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52544" y="1828800"/>
            <a:ext cx="1627632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3  image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docker matrix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0176" y="2258568"/>
            <a:ext cx="1828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3055" y="1828800"/>
            <a:ext cx="1627632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4  scan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trivy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90687" y="2258568"/>
            <a:ext cx="1828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73568" y="1828800"/>
            <a:ext cx="1627632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5 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HIGH/CRITICAL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0" y="2258568"/>
            <a:ext cx="1828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84080" y="1828800"/>
            <a:ext cx="1627632" cy="8686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E8F0"/>
                </a:solidFill>
                <a:latin typeface="Helvetica Neue"/>
              </a:rPr>
              <a:t>6  push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GHCR :sha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THE TWO DECISIONS THAT MATTER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Scan before push, not after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The image is built with load: true into the local Docker daemon, scanned, and only pushed if the gate passes. A vulnerable image never reaches the registry at 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Tagged with the commit SHA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Never :latest. Every running pod can be traced back to the exact commit that produced it, and a rollback is a tag change rather than a rebuild.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Helvetica Neue"/>
              </a:rPr>
              <a:t>pytest and the frontend build run in parallel and both must pass before any image is built — a fan-in dependency, not a sequential chain.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DEVSECOPS · TRIVY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What the security gate caught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548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ADE80"/>
                </a:solidFill>
                <a:latin typeface="Menlo"/>
              </a:rPr>
              <a:t>trivy image --severity HIGH,CRITICAL --ignore-unfixed --exit-code 1  &lt;image&gt;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Backend — 3 fixable HIGH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All three in starlette 0.41.3, which fastapi pins — not a direct dependency.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CVE-2026-48818: StaticFiles did not reject Windows UNC paths, so a crafted request could make the server fetch \\attacker\share — SSRF, and an NTLM credential leak on Windows.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1460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Frontend — 41 fixable, 2 CRITICAL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None of it this project's code — all from nginx-unprivileged:1.27-alpine.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94A3B8"/>
                </a:solidFill>
                <a:latin typeface="Helvetica Neue"/>
              </a:rPr>
              <a:t>A pinned base tag is rebuilt far less often than Alpine ships fixes, so the image carried months of already-released patches.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ADE80"/>
                </a:solidFill>
                <a:latin typeface="Menlo"/>
              </a:rPr>
              <a:t>BEFORE   backend 3 fixable HIGH    ·    frontend 41 fixable (2 CRITICAL, 39 HIGH)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4ADE80"/>
                </a:solidFill>
                <a:latin typeface="Menlo"/>
              </a:rPr>
              <a:t>AFTER    backend 0                 ·    frontend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The honest caveat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The backend still reports 44 HIGH with no fix available. --ignore-unfixed excludes those deliberately: failing every build on a CVE nobody has patched yet blocks delivery for a reason this repository cannot act on. They are tracked in docs/trivy-output.txt, not hidden.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TERRAFORM ·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Infrastructure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What the code provisions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VPC with CIDR carved by cidrsubnet()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2 public + 2 private subnets across 2 AZs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Internet Gateway, NAT gateway, route tables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EKS cluster + managed node group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IRSA / OIDC provider for pod-level IAM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kubernetes.io/role/elb subnet tags, so the load balancer controller can find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1208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How it is structured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EKS sits behind count on a module — the whole cluster is one variable away from absent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Provider endpoints come from a dynamic block, so the same code targets LocalStack or real AWS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terraform.tfvars.example is committed; no real credentials anywhere in history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destroy is part of the workflow, not an afterthought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Cost discipline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An EKS control plane bills $0.10/hour whether or not anything runs on it. The cluster is created for the evaluation and destroyed immediately afterwards, and the Terraform is written so that enable_eks = false leaves a VPC that costs nothing — which is how it was developed and tested against LocalStack before a single real resource existed.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KUBERNETES · HELM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Running in the cluster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Ingress (nginx)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/ → frontend   /api →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830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frontend ×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ClusterIP :8080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backend ×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ClusterIP :8000 + HPA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83080"/>
            <a:ext cx="260604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PostgreSQL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StatefulSet + PVC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148840"/>
            <a:ext cx="32004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06440" y="2148840"/>
            <a:ext cx="32004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2148840"/>
            <a:ext cx="32004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27889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THE CHART DECISION THAT TOOK TWO ATTEMPTS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Attempt 1 — Helm pre-install hook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The Alembic migration ran as a pre-install hook. helm install timed out every single time.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A pre-install hook runs before every chart resource — including the PostgreSQL StatefulSet. It had no database to connect 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Attempt 2 — initContainers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Two initContainers on the backend Deployment: wait-for-postgres, then migrate.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Ordering inside a pod is guaranteed, and the app container cannot start against an unmigrated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Helvetica Neue"/>
              </a:rPr>
              <a:t>/health deliberately does not touch the database — a liveness probe that fails on a database blip restarts a perfectly healthy pod. /ready does check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DECLARATIVE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GitOps with Argo CD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Git repository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helm/mltracker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Argo CD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reconciliation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Live cluster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Synced · Healthy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Drift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reverted automatically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212848"/>
            <a:ext cx="4114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15000" y="2212848"/>
            <a:ext cx="4114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0" y="2212848"/>
            <a:ext cx="41148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2926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Declared, not run.  </a:t>
            </a:r>
            <a:r>
              <a:rPr sz="1500">
                <a:solidFill>
                  <a:srgbClr val="E2E8F0"/>
                </a:solidFill>
                <a:latin typeface="Helvetica Neue"/>
              </a:rPr>
              <a:t>An Argo CD Application points at helm/mltracker in this repository. Nobody runs helm upgrade by hand; the desired state is a file.</a:t>
            </a:r>
          </a:p>
          <a:p>
            <a:pPr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The deployed version is a committed value.  </a:t>
            </a:r>
            <a:r>
              <a:rPr sz="1500">
                <a:solidFill>
                  <a:srgbClr val="E2E8F0"/>
                </a:solidFill>
                <a:latin typeface="Helvetica Neue"/>
              </a:rPr>
              <a:t>CI publishes images tagged with the commit SHA; which tag runs is a field in values-gitops.yaml. Changing the deployed version is therefore a commit, and Argo CD converges the cluster onto it.</a:t>
            </a:r>
          </a:p>
          <a:p>
            <a:pPr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Drift is corrected, not just detected.  </a:t>
            </a:r>
            <a:r>
              <a:rPr sz="1500">
                <a:solidFill>
                  <a:srgbClr val="E2E8F0"/>
                </a:solidFill>
                <a:latin typeface="Helvetica Neue"/>
              </a:rPr>
              <a:t>Delete a pod or hand-edit a replica count and the reconciliation loop puts it back — the cluster cannot quietly diverge from what is in Git.</a:t>
            </a:r>
          </a:p>
          <a:p>
            <a:pPr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Rollback is git revert.  </a:t>
            </a:r>
            <a:r>
              <a:rPr sz="1500">
                <a:solidFill>
                  <a:srgbClr val="E2E8F0"/>
                </a:solidFill>
                <a:latin typeface="Helvetica Neue"/>
              </a:rPr>
              <a:t>Because the whole desired state is version controlled, undoing a bad deploy is undoing a commit.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PROMETHEUS ·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Observability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24028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FastAPI /metrics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instrumentator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783080"/>
            <a:ext cx="224028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ServiceMonitor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scrape target, declared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83080"/>
            <a:ext cx="224028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Prometheus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both pods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783080"/>
            <a:ext cx="301752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E8F0"/>
                </a:solidFill>
                <a:latin typeface="Helvetica Neue"/>
              </a:rPr>
              <a:t>Grafana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8 panels, from a ConfigMap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148840"/>
            <a:ext cx="32004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32120" y="2148840"/>
            <a:ext cx="32004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92440" y="2148840"/>
            <a:ext cx="320040" cy="0"/>
          </a:xfrm>
          <a:prstGeom prst="line">
            <a:avLst/>
          </a:prstGeom>
          <a:ln w="2222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2880360"/>
            <a:ext cx="5212080" cy="2697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The eight panels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request rate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error rate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p95 latency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backend pods up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request rate by endpoint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responses by status class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latency percentiles — p50 / p95 / p99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·  CPU per pod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80360"/>
            <a:ext cx="5212080" cy="1188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The dashboard is a ConfigMap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Labelled grafana_dashboard: "1" and version-controlled — not clicked together in the UI and lost on the next reinstall.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The load generator fails on purpose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>
                <a:solidFill>
                  <a:srgbClr val="94A3B8"/>
                </a:solidFill>
                <a:latin typeface="Helvetica Neue"/>
              </a:rPr>
              <a:t>scripts/load-test.sh mixes 404s and 422s into its traffic. A dashboard that only ever shows 200s proves nothing about its error-rate panels.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Helvetica Neue"/>
              </a:rP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What this actually taught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Ordering guarantees are the whole game.  </a:t>
            </a:r>
            <a:r>
              <a:rPr sz="1500">
                <a:solidFill>
                  <a:srgbClr val="E2E8F0"/>
                </a:solidFill>
                <a:latin typeface="Helvetica Neue"/>
              </a:rPr>
              <a:t>The pre-install hook failure was not a Helm bug — it was me assuming "before install" meant "after the database". Hooks order against the release; initContainers order against the pod.</a:t>
            </a:r>
          </a:p>
          <a:p>
            <a:pPr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A security gate is only honest if it can fail.  </a:t>
            </a:r>
            <a:r>
              <a:rPr sz="1500">
                <a:solidFill>
                  <a:srgbClr val="E2E8F0"/>
                </a:solidFill>
                <a:latin typeface="Helvetica Neue"/>
              </a:rPr>
              <a:t>The first Trivy run broke both images and the build. That was the gate working. Scanning after the push would have been theatre.</a:t>
            </a:r>
          </a:p>
          <a:p>
            <a:pPr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Transitive dependencies are where the CVEs live.  </a:t>
            </a:r>
            <a:r>
              <a:rPr sz="1500">
                <a:solidFill>
                  <a:srgbClr val="E2E8F0"/>
                </a:solidFill>
                <a:latin typeface="Helvetica Neue"/>
              </a:rPr>
              <a:t>Nothing in this repository imports starlette or libssl. Both still shipped inside the images, and both still had to be fixed.</a:t>
            </a:r>
          </a:p>
          <a:p>
            <a:pPr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Measure before you fix.  </a:t>
            </a:r>
            <a:r>
              <a:rPr sz="1500">
                <a:solidFill>
                  <a:srgbClr val="E2E8F0"/>
                </a:solidFill>
                <a:latin typeface="Helvetica Neue"/>
              </a:rPr>
              <a:t>I "fixed" a mobile overflow twice before measuring and finding scrollWidth already equalled the viewport — my screenshot tool was wrong, not the CSS.</a:t>
            </a:r>
          </a:p>
          <a:p>
            <a:pPr>
              <a:spcBef>
                <a:spcPts val="1300"/>
              </a:spcBef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Helvetica Neue"/>
              </a:rPr>
              <a:t>Not every 404 is a bug.  </a:t>
            </a:r>
            <a:r>
              <a:rPr sz="1500">
                <a:solidFill>
                  <a:srgbClr val="E2E8F0"/>
                </a:solidFill>
                <a:latin typeface="Helvetica Neue"/>
              </a:rPr>
              <a:t>Three failed POSTs turned out to be an ingress-nginx config reload race. Twenty requests later, all 200. Recognising transience saves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ML Experiment Tracker · Anisha Singhal · 10020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8BDF8"/>
                </a:solidFill>
                <a:latin typeface="Helvetica Neue"/>
              </a:rPr>
              <a:t>THE OBJECTIVE OF SESSION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One chain,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ADE80"/>
                </a:solidFill>
                <a:latin typeface="Menlo"/>
              </a:rPr>
              <a:t>application  →  commit  →  pipeline  →  image  →  scan  →  registry</a:t>
            </a:r>
            <a:br/>
            <a:r>
              <a:rPr sz="1800" b="0">
                <a:solidFill>
                  <a:srgbClr val="4ADE80"/>
                </a:solidFill>
                <a:latin typeface="Menlo"/>
              </a:rPr>
              <a:t>→  Terraform  →  Kubernetes  →  Helm  →  Argo CD  →  Ingress</a:t>
            </a:r>
            <a:br/>
            <a:r>
              <a:rPr sz="1800" b="0">
                <a:solidFill>
                  <a:srgbClr val="4ADE80"/>
                </a:solidFill>
                <a:latin typeface="Menlo"/>
              </a:rPr>
              <a:t>→  autoscaling  →  monitoring  → 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Helvetica Neue"/>
              </a:rPr>
              <a:t>Anisha Singhal  ·  10020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github.com/anisha-singhal/ml-experiment-tracker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